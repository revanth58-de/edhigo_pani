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4" d="100"/>
          <a:sy n="64" d="100"/>
        </p:scale>
        <p:origin x="12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280" y="599610"/>
            <a:ext cx="2011680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0"/>
            <a:ext cx="53035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400" b="1">
                <a:solidFill>
                  <a:srgbClr val="2E7D32"/>
                </a:solidFill>
                <a:latin typeface="Segoe UI"/>
              </a:defRPr>
            </a:pPr>
            <a:r>
              <a:rPr dirty="0" err="1"/>
              <a:t>Dinasari</a:t>
            </a:r>
            <a:endParaRPr dirty="0"/>
          </a:p>
          <a:p>
            <a:pPr>
              <a:spcBef>
                <a:spcPts val="800"/>
              </a:spcBef>
              <a:spcAft>
                <a:spcPts val="2400"/>
              </a:spcAft>
              <a:defRPr sz="2800" b="1">
                <a:solidFill>
                  <a:srgbClr val="212121"/>
                </a:solidFill>
                <a:latin typeface="Segoe UI"/>
              </a:defRPr>
            </a:pPr>
            <a:r>
              <a:rPr dirty="0"/>
              <a:t>Connecting Rural India's Workforce</a:t>
            </a:r>
          </a:p>
          <a:p>
            <a:pPr>
              <a:spcBef>
                <a:spcPts val="1200"/>
              </a:spcBef>
              <a:defRPr sz="1400">
                <a:solidFill>
                  <a:srgbClr val="616161"/>
                </a:solidFill>
                <a:latin typeface="Segoe UI"/>
              </a:defRPr>
            </a:pPr>
            <a:r>
              <a:rPr dirty="0"/>
              <a:t>Digitizing Agricultural Labor &amp; Machinery</a:t>
            </a:r>
            <a:br>
              <a:rPr dirty="0"/>
            </a:br>
            <a:r>
              <a:rPr dirty="0"/>
              <a:t>INVESTOR PITCH DECK | 2026</a:t>
            </a:r>
          </a:p>
        </p:txBody>
      </p:sp>
      <p:pic>
        <p:nvPicPr>
          <p:cNvPr id="4" name="Picture 3" descr="title_farmer_17836835672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57200"/>
            <a:ext cx="512064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THE VISION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Our Vision: A Unified Digital Ecosystem for Rural India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EF6C00"/>
                </a:solidFill>
                <a:latin typeface="Segoe UI"/>
              </a:defRPr>
            </a:pPr>
            <a:r>
              <a:t>Edhigo Pani (Find Work)</a:t>
            </a:r>
          </a:p>
          <a:p>
            <a:pPr>
              <a:spcAft>
                <a:spcPts val="2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Dinasari is building a single, trusted platform to connect rural workers, farmers, machinery owners, and local services. We are digitizing the agricultural economy to create jobs, improve livelihoods, and strengthen village economies.</a:t>
            </a:r>
          </a:p>
          <a:p>
            <a:pPr>
              <a:spcAft>
                <a:spcPts val="800"/>
              </a:spcAft>
              <a:defRPr sz="1400" b="1">
                <a:solidFill>
                  <a:srgbClr val="1565C0"/>
                </a:solidFill>
                <a:latin typeface="Segoe UI"/>
              </a:defRPr>
            </a:pPr>
            <a:r>
              <a:t>Empower Workers: </a:t>
            </a:r>
            <a:r>
              <a:rPr sz="1400" b="0">
                <a:solidFill>
                  <a:srgbClr val="616161"/>
                </a:solidFill>
                <a:latin typeface="Calibri"/>
              </a:rPr>
              <a:t>Find reliable, well-paying work near you instantly.</a:t>
            </a:r>
          </a:p>
          <a:p>
            <a:pPr>
              <a:spcAft>
                <a:spcPts val="800"/>
              </a:spcAft>
              <a:defRPr sz="1400" b="1">
                <a:solidFill>
                  <a:srgbClr val="2E7D32"/>
                </a:solidFill>
                <a:latin typeface="Segoe UI"/>
              </a:defRPr>
            </a:pPr>
            <a:r>
              <a:t>Support Farmers: </a:t>
            </a:r>
            <a:r>
              <a:rPr sz="1400" b="0">
                <a:solidFill>
                  <a:srgbClr val="616161"/>
                </a:solidFill>
                <a:latin typeface="Calibri"/>
              </a:rPr>
              <a:t>Access labor and machinery on demand, eliminating seasonal stress.</a:t>
            </a:r>
          </a:p>
          <a:p>
            <a:pPr>
              <a:spcAft>
                <a:spcPts val="800"/>
              </a:spcAft>
              <a:defRPr sz="1400" b="1">
                <a:solidFill>
                  <a:srgbClr val="EF6C00"/>
                </a:solidFill>
                <a:latin typeface="Segoe UI"/>
              </a:defRPr>
            </a:pPr>
            <a:r>
              <a:t>Enable Growth: </a:t>
            </a:r>
            <a:r>
              <a:rPr sz="1400" b="0">
                <a:solidFill>
                  <a:srgbClr val="616161"/>
                </a:solidFill>
                <a:latin typeface="Calibri"/>
              </a:rPr>
              <a:t>Build a transparent, efficient, and digitized village economy.</a:t>
            </a:r>
          </a:p>
        </p:txBody>
      </p:sp>
      <p:pic>
        <p:nvPicPr>
          <p:cNvPr id="6" name="Picture 5" descr="vision_split_17836835812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THE PROBLEM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The Agricultural Labor Crisis: A Multi-Faceted Problem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943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91440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12121"/>
                </a:solidFill>
                <a:latin typeface="Segoe UI"/>
              </a:defRPr>
            </a:pPr>
            <a:r>
              <a:t>Labor Shortages &amp; Matchmaking</a:t>
            </a:r>
          </a:p>
          <a:p>
            <a:pPr>
              <a:spcBef>
                <a:spcPts val="400"/>
              </a:spcBef>
              <a:defRPr sz="1050">
                <a:solidFill>
                  <a:srgbClr val="616161"/>
                </a:solidFill>
                <a:latin typeface="Calibri"/>
              </a:defRPr>
            </a:pPr>
            <a:r>
              <a:t>Sowing &amp; harvesting create massive labor demand, but finding workers relies on word-of-mouth or middleman contractors who take high commissions.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5943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697480"/>
            <a:ext cx="91440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12121"/>
                </a:solidFill>
                <a:latin typeface="Segoe UI"/>
              </a:defRPr>
            </a:pPr>
            <a:r>
              <a:t>Underutilized Machinery &amp; No Trust</a:t>
            </a:r>
          </a:p>
          <a:p>
            <a:pPr>
              <a:spcBef>
                <a:spcPts val="400"/>
              </a:spcBef>
              <a:defRPr sz="1050">
                <a:solidFill>
                  <a:srgbClr val="616161"/>
                </a:solidFill>
                <a:latin typeface="Calibri"/>
              </a:defRPr>
            </a:pPr>
            <a:r>
              <a:t>Tractor/harvester owners struggle to find bookings, while paper attendance tracking leads to disputes over hours worked and rates.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943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977640"/>
            <a:ext cx="91440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12121"/>
                </a:solidFill>
                <a:latin typeface="Segoe UI"/>
              </a:defRPr>
            </a:pPr>
            <a:r>
              <a:t>Payment Insecurity &amp; Literacy Barriers</a:t>
            </a:r>
          </a:p>
          <a:p>
            <a:pPr>
              <a:spcBef>
                <a:spcPts val="400"/>
              </a:spcBef>
              <a:defRPr sz="1050">
                <a:solidFill>
                  <a:srgbClr val="616161"/>
                </a:solidFill>
                <a:latin typeface="Calibri"/>
              </a:defRPr>
            </a:pPr>
            <a:r>
              <a:t>Gig-workers suffer from delayed/defaulted wages, and digital platforms fail due to complex language and literacy barriers.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12080"/>
            <a:ext cx="5943600" cy="100584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C62828"/>
                </a:solidFill>
                <a:latin typeface="Segoe UI"/>
              </a:defRPr>
            </a:pPr>
            <a:r>
              <a:t>KEY STAT: Over 65% of India's population lives in rural areas, where access to organized employment remains limited.</a:t>
            </a:r>
          </a:p>
          <a:p>
            <a:pPr>
              <a:spcBef>
                <a:spcPts val="400"/>
              </a:spcBef>
              <a:defRPr sz="950">
                <a:solidFill>
                  <a:srgbClr val="616161"/>
                </a:solidFill>
                <a:latin typeface="Calibri"/>
              </a:defRPr>
            </a:pPr>
            <a:r>
              <a:t>(Data source: World Bank &amp; Census of India 2011)</a:t>
            </a:r>
          </a:p>
        </p:txBody>
      </p:sp>
      <p:pic>
        <p:nvPicPr>
          <p:cNvPr id="16" name="Picture 15" descr="labor_crisis_1783683592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THE SOLUTION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Introducing Dinasari: The Unified Digital Ecosystem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943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We are a one-stop solution that digitizes every step of the agricultural employment cycle.</a:t>
            </a:r>
          </a:p>
          <a:p>
            <a:pPr>
              <a:spcAft>
                <a:spcPts val="1000"/>
              </a:spcAft>
              <a:defRPr sz="1300" b="1">
                <a:solidFill>
                  <a:srgbClr val="2E7D32"/>
                </a:solidFill>
                <a:latin typeface="Segoe UI"/>
              </a:defRPr>
            </a:pPr>
            <a:r>
              <a:t>• Smart Matchmaking: </a:t>
            </a:r>
            <a:r>
              <a:rPr sz="1300" b="0">
                <a:solidFill>
                  <a:srgbClr val="616161"/>
                </a:solidFill>
                <a:latin typeface="Calibri"/>
              </a:rPr>
              <a:t>Farmers post jobs, and workers/groups discover nearby opportunities.</a:t>
            </a:r>
          </a:p>
          <a:p>
            <a:pPr>
              <a:spcAft>
                <a:spcPts val="1000"/>
              </a:spcAft>
              <a:defRPr sz="1300" b="1">
                <a:solidFill>
                  <a:srgbClr val="1565C0"/>
                </a:solidFill>
                <a:latin typeface="Segoe UI"/>
              </a:defRPr>
            </a:pPr>
            <a:r>
              <a:t>• QR-Based Attendance: </a:t>
            </a:r>
            <a:r>
              <a:rPr sz="1300" b="0">
                <a:solidFill>
                  <a:srgbClr val="616161"/>
                </a:solidFill>
                <a:latin typeface="Calibri"/>
              </a:rPr>
              <a:t>GPS-verified QR check-in/out creates a tamper-proof digital ledger, eliminating disputes.</a:t>
            </a:r>
          </a:p>
          <a:p>
            <a:pPr>
              <a:spcAft>
                <a:spcPts val="1000"/>
              </a:spcAft>
              <a:defRPr sz="1300" b="1">
                <a:solidFill>
                  <a:srgbClr val="2E7D32"/>
                </a:solidFill>
                <a:latin typeface="Segoe UI"/>
              </a:defRPr>
            </a:pPr>
            <a:r>
              <a:t>• Direct Payouts: </a:t>
            </a:r>
            <a:r>
              <a:rPr sz="1300" b="0">
                <a:solidFill>
                  <a:srgbClr val="616161"/>
                </a:solidFill>
                <a:latin typeface="Calibri"/>
              </a:rPr>
              <a:t>Payments are calculated automatically and settled via cash or UPI, ensuring transparency.</a:t>
            </a:r>
          </a:p>
          <a:p>
            <a:pPr>
              <a:spcAft>
                <a:spcPts val="1000"/>
              </a:spcAft>
              <a:defRPr sz="1300" b="1">
                <a:solidFill>
                  <a:srgbClr val="EF6C00"/>
                </a:solidFill>
                <a:latin typeface="Segoe UI"/>
              </a:defRPr>
            </a:pPr>
            <a:r>
              <a:t>• Voice &amp; Local Languages: </a:t>
            </a:r>
            <a:r>
              <a:rPr sz="1300" b="0">
                <a:solidFill>
                  <a:srgbClr val="616161"/>
                </a:solidFill>
                <a:latin typeface="Calibri"/>
              </a:rPr>
              <a:t>The app guides users in native languages (Telugu, Hindi, English) with simple iconography.</a:t>
            </a:r>
          </a:p>
          <a:p>
            <a:pPr>
              <a:spcBef>
                <a:spcPts val="1400"/>
              </a:spcBef>
              <a:defRPr sz="1350" b="1">
                <a:solidFill>
                  <a:srgbClr val="2E7D32"/>
                </a:solidFill>
                <a:latin typeface="Segoe UI"/>
              </a:defRPr>
            </a:pPr>
            <a:r>
              <a:t>CURRENT STAGE: Product Ready &amp; Pilot Ready</a:t>
            </a:r>
          </a:p>
          <a:p>
            <a:pPr>
              <a:spcBef>
                <a:spcPts val="400"/>
              </a:spcBef>
              <a:defRPr sz="1200" b="1">
                <a:solidFill>
                  <a:srgbClr val="212121"/>
                </a:solidFill>
                <a:latin typeface="Segoe UI"/>
              </a:defRPr>
            </a:pPr>
            <a:r>
              <a:t>INNOVATION: QR-based attendance, verified worker profiles, digital payments, and AI job matching.</a:t>
            </a:r>
          </a:p>
        </p:txBody>
      </p:sp>
      <p:pic>
        <p:nvPicPr>
          <p:cNvPr id="6" name="Picture 5" descr="solution_ecosystem_17836836090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MARKET OPPORTUNITY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A Massive, Untapped Rural Opportunity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6692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7D32"/>
                </a:solidFill>
                <a:latin typeface="Segoe UI"/>
              </a:defRPr>
            </a:pPr>
            <a:r>
              <a:t>TAM (Total Addressable Market): ₹2.5 Lakh Cr+ ($30 Billion+)</a:t>
            </a:r>
          </a:p>
          <a:p>
            <a:pPr>
              <a:spcBef>
                <a:spcPts val="400"/>
              </a:spcBef>
              <a:defRPr sz="1100">
                <a:solidFill>
                  <a:srgbClr val="616161"/>
                </a:solidFill>
                <a:latin typeface="Calibri"/>
              </a:defRPr>
            </a:pPr>
            <a:r>
              <a:t>Total value of agricultural daily labor payrolls and equipment rentals across India.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53035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565C0"/>
                </a:solidFill>
                <a:latin typeface="Segoe UI"/>
              </a:defRPr>
            </a:pPr>
            <a:r>
              <a:t>SAM (Serviceable Addressable Market): ₹25,000 Cr+ ($3 Billion+)</a:t>
            </a:r>
          </a:p>
          <a:p>
            <a:pPr>
              <a:spcBef>
                <a:spcPts val="400"/>
              </a:spcBef>
              <a:defRPr sz="1100">
                <a:solidFill>
                  <a:srgbClr val="616161"/>
                </a:solidFill>
                <a:latin typeface="Calibri"/>
              </a:defRPr>
            </a:pPr>
            <a:r>
              <a:t>Market in initial target states (AP, Telangana, Karnataka) with strong smartphone penetration and FPO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206240"/>
            <a:ext cx="49377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F6C00"/>
                </a:solidFill>
                <a:latin typeface="Segoe UI"/>
              </a:defRPr>
            </a:pPr>
            <a:r>
              <a:t>SOM: ₹250 Cr+ ($30 Million+) in 3-5 Years</a:t>
            </a:r>
          </a:p>
          <a:p>
            <a:pPr>
              <a:spcBef>
                <a:spcPts val="400"/>
              </a:spcBef>
              <a:defRPr sz="1100">
                <a:solidFill>
                  <a:srgbClr val="616161"/>
                </a:solidFill>
                <a:latin typeface="Calibri"/>
              </a:defRPr>
            </a:pPr>
            <a:r>
              <a:t>Target transactional volume to be captured through focused operations, FPO partnerships, and viral growth.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63040"/>
            <a:ext cx="51206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1463040"/>
            <a:ext cx="512064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5087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WHY NOW?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1168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12121"/>
                </a:solidFill>
                <a:latin typeface="Segoe UI"/>
              </a:defRPr>
            </a:pPr>
            <a:r>
              <a:t>India's Rural Digital Adoption</a:t>
            </a:r>
          </a:p>
          <a:p>
            <a:pPr>
              <a:spcAft>
                <a:spcPts val="800"/>
              </a:spcAft>
              <a:defRPr sz="1200" b="1">
                <a:solidFill>
                  <a:srgbClr val="2E7D32"/>
                </a:solidFill>
                <a:latin typeface="Segoe UI"/>
              </a:defRPr>
            </a:pPr>
            <a:r>
              <a:t>• Rapid Rural Digitization: </a:t>
            </a:r>
            <a:r>
              <a:rPr sz="1200" b="0">
                <a:solidFill>
                  <a:srgbClr val="616161"/>
                </a:solidFill>
                <a:latin typeface="Calibri"/>
              </a:rPr>
              <a:t>Internet growth in rural markets is now outpacing urban India, driven by widespread digital infrastructure.</a:t>
            </a:r>
          </a:p>
          <a:p>
            <a:pPr>
              <a:spcAft>
                <a:spcPts val="800"/>
              </a:spcAft>
              <a:defRPr sz="1200" b="1">
                <a:solidFill>
                  <a:srgbClr val="2E7D32"/>
                </a:solidFill>
                <a:latin typeface="Segoe UI"/>
              </a:defRPr>
            </a:pPr>
            <a:r>
              <a:t>• Smartphone Adoption: </a:t>
            </a:r>
            <a:r>
              <a:rPr sz="1200" b="0">
                <a:solidFill>
                  <a:srgbClr val="616161"/>
                </a:solidFill>
                <a:latin typeface="Calibri"/>
              </a:rPr>
              <a:t>Increasing availability of low-cost smartphones has put app accessibility directly in the hands of farmers and laborers.</a:t>
            </a:r>
          </a:p>
          <a:p>
            <a:pPr>
              <a:spcAft>
                <a:spcPts val="800"/>
              </a:spcAft>
              <a:defRPr sz="1200" b="1">
                <a:solidFill>
                  <a:srgbClr val="2E7D32"/>
                </a:solidFill>
                <a:latin typeface="Segoe UI"/>
              </a:defRPr>
            </a:pPr>
            <a:r>
              <a:t>• UPI Settlements: </a:t>
            </a:r>
            <a:r>
              <a:rPr sz="1200" b="0">
                <a:solidFill>
                  <a:srgbClr val="616161"/>
                </a:solidFill>
                <a:latin typeface="Calibri"/>
              </a:rPr>
              <a:t>Widespread adoption of the Unified Payments Interface (UPI) makes micro-transactions and wage splits secure and instant.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USER JOURNEY - FARMER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Farmer Journey: Sourcing Labor in Seconds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737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212121"/>
                </a:solidFill>
                <a:latin typeface="Segoe UI"/>
              </a:defRPr>
            </a:pPr>
            <a:r>
              <a:t>Post Job Details</a:t>
            </a:r>
          </a:p>
          <a:p>
            <a:pPr algn="ctr">
              <a:defRPr sz="1100">
                <a:solidFill>
                  <a:srgbClr val="616161"/>
                </a:solidFill>
                <a:latin typeface="Calibri"/>
              </a:defRPr>
            </a:pPr>
            <a:r>
              <a:t>Select crop, work type (Harvesting, Sowing), daily wage, and date.</a:t>
            </a:r>
          </a:p>
        </p:txBody>
      </p:sp>
      <p:sp>
        <p:nvSpPr>
          <p:cNvPr id="8" name="Chevron 7"/>
          <p:cNvSpPr/>
          <p:nvPr/>
        </p:nvSpPr>
        <p:spPr>
          <a:xfrm>
            <a:off x="2505456" y="3429000"/>
            <a:ext cx="146304" cy="274320"/>
          </a:xfrm>
          <a:prstGeom prst="chevron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88336" y="182880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871216" y="16002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2194560"/>
            <a:ext cx="1737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212121"/>
                </a:solidFill>
                <a:latin typeface="Segoe UI"/>
              </a:defRPr>
            </a:pPr>
            <a:r>
              <a:t>Match &amp; Select</a:t>
            </a:r>
          </a:p>
          <a:p>
            <a:pPr algn="ctr">
              <a:defRPr sz="1100">
                <a:solidFill>
                  <a:srgbClr val="616161"/>
                </a:solidFill>
                <a:latin typeface="Calibri"/>
              </a:defRPr>
            </a:pPr>
            <a:r>
              <a:t>Browse nearby individual workers or organized groups on our Live Discovery Map.</a:t>
            </a:r>
          </a:p>
        </p:txBody>
      </p:sp>
      <p:sp>
        <p:nvSpPr>
          <p:cNvPr id="12" name="Chevron 11"/>
          <p:cNvSpPr/>
          <p:nvPr/>
        </p:nvSpPr>
        <p:spPr>
          <a:xfrm>
            <a:off x="4736592" y="3429000"/>
            <a:ext cx="146304" cy="274320"/>
          </a:xfrm>
          <a:prstGeom prst="chevron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19472" y="182880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102352" y="16002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194560"/>
            <a:ext cx="1737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212121"/>
                </a:solidFill>
                <a:latin typeface="Segoe UI"/>
              </a:defRPr>
            </a:pPr>
            <a:r>
              <a:t>QR Code Check-In</a:t>
            </a:r>
          </a:p>
          <a:p>
            <a:pPr algn="ctr">
              <a:defRPr sz="1100">
                <a:solidFill>
                  <a:srgbClr val="616161"/>
                </a:solidFill>
                <a:latin typeface="Calibri"/>
              </a:defRPr>
            </a:pPr>
            <a:r>
              <a:t>Worker scans the farmer's QR code upon arrival, verifying location and start time.</a:t>
            </a:r>
          </a:p>
        </p:txBody>
      </p:sp>
      <p:sp>
        <p:nvSpPr>
          <p:cNvPr id="16" name="Chevron 15"/>
          <p:cNvSpPr/>
          <p:nvPr/>
        </p:nvSpPr>
        <p:spPr>
          <a:xfrm>
            <a:off x="6967728" y="3429000"/>
            <a:ext cx="146304" cy="274320"/>
          </a:xfrm>
          <a:prstGeom prst="chevron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50608" y="182880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33488" y="16002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2194560"/>
            <a:ext cx="1737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212121"/>
                </a:solidFill>
                <a:latin typeface="Segoe UI"/>
              </a:defRPr>
            </a:pPr>
            <a:r>
              <a:t>Track &amp; Check-Out</a:t>
            </a:r>
          </a:p>
          <a:p>
            <a:pPr algn="ctr">
              <a:defRPr sz="1100">
                <a:solidFill>
                  <a:srgbClr val="616161"/>
                </a:solidFill>
                <a:latin typeface="Calibri"/>
              </a:defRPr>
            </a:pPr>
            <a:r>
              <a:t>Monitor work status. Worker scans the QR code again at the end of the shift.</a:t>
            </a:r>
          </a:p>
        </p:txBody>
      </p:sp>
      <p:sp>
        <p:nvSpPr>
          <p:cNvPr id="20" name="Chevron 19"/>
          <p:cNvSpPr/>
          <p:nvPr/>
        </p:nvSpPr>
        <p:spPr>
          <a:xfrm>
            <a:off x="9198864" y="3429000"/>
            <a:ext cx="146304" cy="274320"/>
          </a:xfrm>
          <a:prstGeom prst="chevron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381744" y="182880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64624" y="16002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904" y="2194560"/>
            <a:ext cx="1737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212121"/>
                </a:solidFill>
                <a:latin typeface="Segoe UI"/>
              </a:defRPr>
            </a:pPr>
            <a:r>
              <a:t>Dynamic Settlement</a:t>
            </a:r>
          </a:p>
          <a:p>
            <a:pPr algn="ctr">
              <a:defRPr sz="1100">
                <a:solidFill>
                  <a:srgbClr val="616161"/>
                </a:solidFill>
                <a:latin typeface="Calibri"/>
              </a:defRPr>
            </a:pPr>
            <a:r>
              <a:t>Review the automated payment summary, pay via Cash/UPI, and rate the worker.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USER JOURNEY - WORKER &amp; LEADER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Worker &amp; Group Leader Journeys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WORKER JOURNEY: RELIABLE WORK &amp; PAYOUTS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 b="1">
                <a:solidFill>
                  <a:srgbClr val="1565C0"/>
                </a:solidFill>
                <a:latin typeface="Segoe UI"/>
              </a:defRPr>
            </a:pPr>
            <a:r>
              <a:t>• Profile Registration: </a:t>
            </a:r>
            <a:r>
              <a:rPr sz="1150" b="0">
                <a:solidFill>
                  <a:srgbClr val="616161"/>
                </a:solidFill>
                <a:latin typeface="Calibri"/>
              </a:rPr>
              <a:t>Register with mobile OTP, age, gender, and skills. Toggle 'Online' to appear in searches.</a:t>
            </a:r>
          </a:p>
          <a:p>
            <a:pPr>
              <a:spcAft>
                <a:spcPts val="800"/>
              </a:spcAft>
              <a:defRPr sz="1200" b="1">
                <a:solidFill>
                  <a:srgbClr val="1565C0"/>
                </a:solidFill>
                <a:latin typeface="Segoe UI"/>
              </a:defRPr>
            </a:pPr>
            <a:r>
              <a:t>• Push Notifications: </a:t>
            </a:r>
            <a:r>
              <a:rPr sz="1150" b="0">
                <a:solidFill>
                  <a:srgbClr val="616161"/>
                </a:solidFill>
                <a:latin typeface="Calibri"/>
              </a:rPr>
              <a:t>Receive loud, voice-guided job alerts detailing the farm distance, wage, and task.</a:t>
            </a:r>
          </a:p>
          <a:p>
            <a:pPr>
              <a:spcAft>
                <a:spcPts val="800"/>
              </a:spcAft>
              <a:defRPr sz="1200" b="1">
                <a:solidFill>
                  <a:srgbClr val="1565C0"/>
                </a:solidFill>
                <a:latin typeface="Segoe UI"/>
              </a:defRPr>
            </a:pPr>
            <a:r>
              <a:t>• GPS Field Navigation: </a:t>
            </a:r>
            <a:r>
              <a:rPr sz="1150" b="0">
                <a:solidFill>
                  <a:srgbClr val="616161"/>
                </a:solidFill>
                <a:latin typeface="Calibri"/>
              </a:rPr>
              <a:t>Accept the offer and view precise farm location routes.</a:t>
            </a:r>
          </a:p>
          <a:p>
            <a:pPr>
              <a:spcAft>
                <a:spcPts val="800"/>
              </a:spcAft>
              <a:defRPr sz="1200" b="1">
                <a:solidFill>
                  <a:srgbClr val="1565C0"/>
                </a:solidFill>
                <a:latin typeface="Segoe UI"/>
              </a:defRPr>
            </a:pPr>
            <a:r>
              <a:t>• QR Check-In/Out: </a:t>
            </a:r>
            <a:r>
              <a:rPr sz="1150" b="0">
                <a:solidFill>
                  <a:srgbClr val="616161"/>
                </a:solidFill>
                <a:latin typeface="Calibri"/>
              </a:rPr>
              <a:t>Scan the farmer's QR code to log attendance.</a:t>
            </a:r>
          </a:p>
          <a:p>
            <a:pPr>
              <a:spcAft>
                <a:spcPts val="800"/>
              </a:spcAft>
              <a:defRPr sz="1200" b="1">
                <a:solidFill>
                  <a:srgbClr val="1565C0"/>
                </a:solidFill>
                <a:latin typeface="Segoe UI"/>
              </a:defRPr>
            </a:pPr>
            <a:r>
              <a:t>• Earnings Ledger: </a:t>
            </a:r>
            <a:r>
              <a:rPr sz="1150" b="0">
                <a:solidFill>
                  <a:srgbClr val="616161"/>
                </a:solidFill>
                <a:latin typeface="Calibri"/>
              </a:rPr>
              <a:t>Track daily wages and settlement statuses on your personal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949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94960" cy="4572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GROUP LEADER JOURNEY: SCALING UP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 b="1">
                <a:solidFill>
                  <a:srgbClr val="EF6C00"/>
                </a:solidFill>
                <a:latin typeface="Segoe UI"/>
              </a:defRPr>
            </a:pPr>
            <a:r>
              <a:t>• Build Digital Groups: </a:t>
            </a:r>
            <a:r>
              <a:rPr sz="1150" b="0">
                <a:solidFill>
                  <a:srgbClr val="616161"/>
                </a:solidFill>
                <a:latin typeface="Calibri"/>
              </a:rPr>
              <a:t>Leaders (Mestris) register and bundle village workers into active groups.</a:t>
            </a:r>
          </a:p>
          <a:p>
            <a:pPr>
              <a:spcAft>
                <a:spcPts val="1200"/>
              </a:spcAft>
              <a:defRPr sz="1200" b="1">
                <a:solidFill>
                  <a:srgbClr val="EF6C00"/>
                </a:solidFill>
                <a:latin typeface="Segoe UI"/>
              </a:defRPr>
            </a:pPr>
            <a:r>
              <a:t>• Accept Collective Jobs: </a:t>
            </a:r>
            <a:r>
              <a:rPr sz="1150" b="0">
                <a:solidFill>
                  <a:srgbClr val="616161"/>
                </a:solidFill>
                <a:latin typeface="Calibri"/>
              </a:rPr>
              <a:t>Review and accept large-scale group jobs posted by farmers.</a:t>
            </a:r>
          </a:p>
          <a:p>
            <a:pPr>
              <a:spcAft>
                <a:spcPts val="1200"/>
              </a:spcAft>
              <a:defRPr sz="1200" b="1">
                <a:solidFill>
                  <a:srgbClr val="EF6C00"/>
                </a:solidFill>
                <a:latin typeface="Segoe UI"/>
              </a:defRPr>
            </a:pPr>
            <a:r>
              <a:t>• One-Scan Attendance: </a:t>
            </a:r>
            <a:r>
              <a:rPr sz="1150" b="0">
                <a:solidFill>
                  <a:srgbClr val="616161"/>
                </a:solidFill>
                <a:latin typeface="Calibri"/>
              </a:rPr>
              <a:t>Farmer scans the Leader's Group QR code, instantly checking in all team members.</a:t>
            </a:r>
          </a:p>
          <a:p>
            <a:pPr>
              <a:spcAft>
                <a:spcPts val="1200"/>
              </a:spcAft>
              <a:defRPr sz="1200" b="1">
                <a:solidFill>
                  <a:srgbClr val="EF6C00"/>
                </a:solidFill>
                <a:latin typeface="Segoe UI"/>
              </a:defRPr>
            </a:pPr>
            <a:r>
              <a:t>• Wage Splitter: </a:t>
            </a:r>
            <a:r>
              <a:rPr sz="1150" b="0">
                <a:solidFill>
                  <a:srgbClr val="616161"/>
                </a:solidFill>
                <a:latin typeface="Calibri"/>
              </a:rPr>
              <a:t>Generate structured salary breakdowns per worker based on individual attendance.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USER JOURNEY - MACHINERY RENTER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Renters: Maximizing Tractor &amp; Equipment Usage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943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2E7D32"/>
                </a:solidFill>
                <a:latin typeface="Segoe UI"/>
              </a:defRPr>
            </a:pPr>
            <a:r>
              <a:t>Dinasari is not just for labor; it's a full-fledged agricultural equipment marketplace.</a:t>
            </a:r>
          </a:p>
          <a:p>
            <a:pPr>
              <a:spcAft>
                <a:spcPts val="800"/>
              </a:spcAft>
              <a:defRPr sz="1300" b="1">
                <a:solidFill>
                  <a:srgbClr val="2E7D32"/>
                </a:solidFill>
                <a:latin typeface="Segoe UI"/>
              </a:defRPr>
            </a:pPr>
            <a:r>
              <a:t>• Equipment Listings: </a:t>
            </a:r>
            <a:r>
              <a:rPr sz="1250" b="0">
                <a:solidFill>
                  <a:srgbClr val="616161"/>
                </a:solidFill>
                <a:latin typeface="Calibri"/>
              </a:rPr>
              <a:t>Machinery owners upload details of tractors, harvesters, or power sprayers.</a:t>
            </a:r>
          </a:p>
          <a:p>
            <a:pPr>
              <a:spcAft>
                <a:spcPts val="800"/>
              </a:spcAft>
              <a:defRPr sz="1300" b="1">
                <a:solidFill>
                  <a:srgbClr val="2E7D32"/>
                </a:solidFill>
                <a:latin typeface="Segoe UI"/>
              </a:defRPr>
            </a:pPr>
            <a:r>
              <a:t>• Set Pricing: </a:t>
            </a:r>
            <a:r>
              <a:rPr sz="1250" b="0">
                <a:solidFill>
                  <a:srgbClr val="616161"/>
                </a:solidFill>
                <a:latin typeface="Calibri"/>
              </a:rPr>
              <a:t>Control pricing by the hour or acre.</a:t>
            </a:r>
          </a:p>
          <a:p>
            <a:pPr>
              <a:spcAft>
                <a:spcPts val="800"/>
              </a:spcAft>
              <a:defRPr sz="1300" b="1">
                <a:solidFill>
                  <a:srgbClr val="2E7D32"/>
                </a:solidFill>
                <a:latin typeface="Segoe UI"/>
              </a:defRPr>
            </a:pPr>
            <a:r>
              <a:t>• Real-Time Bookings: </a:t>
            </a:r>
            <a:r>
              <a:rPr sz="1250" b="0">
                <a:solidFill>
                  <a:srgbClr val="616161"/>
                </a:solidFill>
                <a:latin typeface="Calibri"/>
              </a:rPr>
              <a:t>Farmers discover and request machinery directly on the map.</a:t>
            </a:r>
          </a:p>
          <a:p>
            <a:pPr>
              <a:spcAft>
                <a:spcPts val="800"/>
              </a:spcAft>
              <a:defRPr sz="1300" b="1">
                <a:solidFill>
                  <a:srgbClr val="2E7D32"/>
                </a:solidFill>
                <a:latin typeface="Segoe UI"/>
              </a:defRPr>
            </a:pPr>
            <a:r>
              <a:t>• QR Start/End Work: </a:t>
            </a:r>
            <a:r>
              <a:rPr sz="1250" b="0">
                <a:solidFill>
                  <a:srgbClr val="616161"/>
                </a:solidFill>
                <a:latin typeface="Calibri"/>
              </a:rPr>
              <a:t>QR scans verify the start and end of machinery rental operations.</a:t>
            </a:r>
          </a:p>
          <a:p>
            <a:pPr>
              <a:spcAft>
                <a:spcPts val="800"/>
              </a:spcAft>
              <a:defRPr sz="1300" b="1">
                <a:solidFill>
                  <a:srgbClr val="2E7D32"/>
                </a:solidFill>
                <a:latin typeface="Segoe UI"/>
              </a:defRPr>
            </a:pPr>
            <a:r>
              <a:t>• Booking Calendar: </a:t>
            </a:r>
            <a:r>
              <a:rPr sz="1250" b="0">
                <a:solidFill>
                  <a:srgbClr val="616161"/>
                </a:solidFill>
                <a:latin typeface="Calibri"/>
              </a:rPr>
              <a:t>View upcoming bookings, block holiday dates, and manage logistics.</a:t>
            </a:r>
          </a:p>
        </p:txBody>
      </p:sp>
      <p:pic>
        <p:nvPicPr>
          <p:cNvPr id="6" name="Picture 5" descr="machinery_renter_17836836264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REVENUE STREAMS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Four Direct Revenue Streams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Segoe UI"/>
              </a:defRPr>
            </a:pPr>
            <a:r>
              <a:t>Platform Convenience Fee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2E7D32"/>
                </a:solidFill>
                <a:latin typeface="Segoe UI"/>
              </a:defRPr>
            </a:pPr>
            <a:r>
              <a:t>3% - 5%</a:t>
            </a:r>
          </a:p>
          <a:p>
            <a:pPr>
              <a:defRPr sz="1100">
                <a:solidFill>
                  <a:srgbClr val="616161"/>
                </a:solidFill>
                <a:latin typeface="Calibri"/>
              </a:defRPr>
            </a:pPr>
            <a:r>
              <a:t>Transaction commission charged on daily worker payouts, calculated automatically on job completion.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394960" cy="137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Segoe UI"/>
              </a:defRPr>
            </a:pPr>
            <a:r>
              <a:t>Machinery Rental Commission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1565C0"/>
                </a:solidFill>
                <a:latin typeface="Segoe UI"/>
              </a:defRPr>
            </a:pPr>
            <a:r>
              <a:t>8% - 10%</a:t>
            </a:r>
          </a:p>
          <a:p>
            <a:pPr>
              <a:defRPr sz="1100">
                <a:solidFill>
                  <a:srgbClr val="616161"/>
                </a:solidFill>
                <a:latin typeface="Calibri"/>
              </a:defRPr>
            </a:pPr>
            <a:r>
              <a:t>Commission on heavy equipment rental bookings (tractors, tillers, harvest tools).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394960" cy="1371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Segoe UI"/>
              </a:defRPr>
            </a:pPr>
            <a:r>
              <a:t>B2B Advertising Banners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EF6C00"/>
                </a:solidFill>
                <a:latin typeface="Segoe UI"/>
              </a:defRPr>
            </a:pPr>
            <a:r>
              <a:t>Promoted Ads</a:t>
            </a:r>
          </a:p>
          <a:p>
            <a:pPr>
              <a:defRPr sz="1100">
                <a:solidFill>
                  <a:srgbClr val="616161"/>
                </a:solidFill>
                <a:latin typeface="Calibri"/>
              </a:defRPr>
            </a:pPr>
            <a:r>
              <a:t>Banner ads and promoted listings for seed brands, fertilizer suppliers, and tractor agencies.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3931920"/>
            <a:ext cx="5394960" cy="1371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2062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Segoe UI"/>
              </a:defRPr>
            </a:pPr>
            <a:r>
              <a:t>Financial Service Cross-Selling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212121"/>
                </a:solidFill>
                <a:latin typeface="Segoe UI"/>
              </a:defRPr>
            </a:pPr>
            <a:r>
              <a:t>Value Addition</a:t>
            </a:r>
          </a:p>
          <a:p>
            <a:pPr>
              <a:defRPr sz="1100">
                <a:solidFill>
                  <a:srgbClr val="616161"/>
                </a:solidFill>
                <a:latin typeface="Calibri"/>
              </a:defRPr>
            </a:pPr>
            <a:r>
              <a:t>Partnership margins for distributing micro-insurance (crop protection, accident) and agricultural credit.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GO-TO-MARKET STRATEGY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Localized GTM &amp; Growth Strategy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146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2402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Segoe UI"/>
              </a:defRPr>
            </a:pPr>
            <a:r>
              <a:t>FPO Integration</a:t>
            </a:r>
          </a:p>
          <a:p>
            <a:pPr algn="ctr">
              <a:spcBef>
                <a:spcPts val="400"/>
              </a:spcBef>
              <a:spcAft>
                <a:spcPts val="1400"/>
              </a:spcAft>
              <a:defRPr sz="950" b="1">
                <a:solidFill>
                  <a:srgbClr val="616161"/>
                </a:solidFill>
                <a:latin typeface="Segoe UI"/>
              </a:defRPr>
            </a:pPr>
            <a:r>
              <a:t>FARMER COOPERATIVES</a:t>
            </a:r>
          </a:p>
          <a:p>
            <a:pPr algn="ctr">
              <a:defRPr sz="1100">
                <a:solidFill>
                  <a:srgbClr val="616161"/>
                </a:solidFill>
                <a:latin typeface="Calibri"/>
              </a:defRPr>
            </a:pPr>
            <a:r>
              <a:t>Partnering with Farmer Producer Organizations to register clusters of farmers efficiently.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45920"/>
            <a:ext cx="25146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2402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  <a:latin typeface="Segoe UI"/>
              </a:defRPr>
            </a:pPr>
            <a:r>
              <a:t>Gram Panchayat campaigns</a:t>
            </a:r>
          </a:p>
          <a:p>
            <a:pPr algn="ctr">
              <a:spcBef>
                <a:spcPts val="400"/>
              </a:spcBef>
              <a:spcAft>
                <a:spcPts val="1400"/>
              </a:spcAft>
              <a:defRPr sz="950" b="1">
                <a:solidFill>
                  <a:srgbClr val="616161"/>
                </a:solidFill>
                <a:latin typeface="Segoe UI"/>
              </a:defRPr>
            </a:pPr>
            <a:r>
              <a:t>VILLAGE 'CHOUPALS'</a:t>
            </a:r>
          </a:p>
          <a:p>
            <a:pPr algn="ctr">
              <a:defRPr sz="1100">
                <a:solidFill>
                  <a:srgbClr val="616161"/>
                </a:solidFill>
                <a:latin typeface="Calibri"/>
              </a:defRPr>
            </a:pPr>
            <a:r>
              <a:t>Conducting physical village meetings to build trust and address digital barriers.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25146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828800"/>
            <a:ext cx="22402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EF6C00"/>
                </a:solidFill>
                <a:latin typeface="Segoe UI"/>
              </a:defRPr>
            </a:pPr>
            <a:r>
              <a:t>Leader Referral Loop</a:t>
            </a:r>
          </a:p>
          <a:p>
            <a:pPr algn="ctr">
              <a:spcBef>
                <a:spcPts val="400"/>
              </a:spcBef>
              <a:spcAft>
                <a:spcPts val="1400"/>
              </a:spcAft>
              <a:defRPr sz="950" b="1">
                <a:solidFill>
                  <a:srgbClr val="616161"/>
                </a:solidFill>
                <a:latin typeface="Segoe UI"/>
              </a:defRPr>
            </a:pPr>
            <a:r>
              <a:t>MESTRI VIRALITY</a:t>
            </a:r>
          </a:p>
          <a:p>
            <a:pPr algn="ctr">
              <a:defRPr sz="1100">
                <a:solidFill>
                  <a:srgbClr val="616161"/>
                </a:solidFill>
                <a:latin typeface="Calibri"/>
              </a:defRPr>
            </a:pPr>
            <a:r>
              <a:t>Incentivizing gang leaders (Mestris) to onboard their regular worker teams, creating rapid growth.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146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402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  <a:latin typeface="Segoe UI"/>
              </a:defRPr>
            </a:pPr>
            <a:r>
              <a:t>Retailer Affiliates</a:t>
            </a:r>
          </a:p>
          <a:p>
            <a:pPr algn="ctr">
              <a:spcBef>
                <a:spcPts val="400"/>
              </a:spcBef>
              <a:spcAft>
                <a:spcPts val="1400"/>
              </a:spcAft>
              <a:defRPr sz="950" b="1">
                <a:solidFill>
                  <a:srgbClr val="616161"/>
                </a:solidFill>
                <a:latin typeface="Segoe UI"/>
              </a:defRPr>
            </a:pPr>
            <a:r>
              <a:t>AGRI-INPUT STORES</a:t>
            </a:r>
          </a:p>
          <a:p>
            <a:pPr algn="ctr">
              <a:defRPr sz="1100">
                <a:solidFill>
                  <a:srgbClr val="616161"/>
                </a:solidFill>
                <a:latin typeface="Calibri"/>
              </a:defRPr>
            </a:pPr>
            <a:r>
              <a:t>Onboarding local seed &amp; fertilizer retailers as Dinasari registration kiosks.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1277295" cy="5486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565C0"/>
                </a:solidFill>
                <a:latin typeface="Segoe UI"/>
              </a:defRPr>
            </a:pPr>
            <a:r>
              <a:t>VIRAL CHANNELS: Localized SMS &amp; Voice Broadcasts explain app benefits in native Telugu and Hindi directly to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UNIT ECONOMICS &amp; PROJECTIONS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Strong Unit Economics &amp; Rapid Scaling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114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09728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12121"/>
                </a:solidFill>
                <a:latin typeface="Segoe UI"/>
              </a:defRPr>
            </a:pPr>
            <a:r>
              <a:t>CAC (Customer Acquisition Cost)</a:t>
            </a:r>
          </a:p>
          <a:p>
            <a:pPr>
              <a:spcBef>
                <a:spcPts val="200"/>
              </a:spcBef>
              <a:defRPr sz="2200" b="1">
                <a:solidFill>
                  <a:srgbClr val="2E7D32"/>
                </a:solidFill>
                <a:latin typeface="Segoe UI"/>
              </a:defRPr>
            </a:pPr>
            <a:r>
              <a:t>₹200 ($2.4)</a:t>
            </a:r>
          </a:p>
          <a:p>
            <a:pPr>
              <a:spcBef>
                <a:spcPts val="200"/>
              </a:spcBef>
              <a:defRPr sz="950">
                <a:solidFill>
                  <a:srgbClr val="616161"/>
                </a:solidFill>
                <a:latin typeface="Calibri"/>
              </a:defRPr>
            </a:pPr>
            <a:r>
              <a:t>Low CAC achieved via viral worker-to-worker loops and FPO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4114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09728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7490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12121"/>
                </a:solidFill>
                <a:latin typeface="Segoe UI"/>
              </a:defRPr>
            </a:pPr>
            <a:r>
              <a:t>LTV (3-Year Lifetime Value)</a:t>
            </a:r>
          </a:p>
          <a:p>
            <a:pPr>
              <a:spcBef>
                <a:spcPts val="200"/>
              </a:spcBef>
              <a:defRPr sz="2200" b="1">
                <a:solidFill>
                  <a:srgbClr val="1565C0"/>
                </a:solidFill>
                <a:latin typeface="Segoe UI"/>
              </a:defRPr>
            </a:pPr>
            <a:r>
              <a:t>₹1,800 ($22)</a:t>
            </a:r>
          </a:p>
          <a:p>
            <a:pPr>
              <a:spcBef>
                <a:spcPts val="200"/>
              </a:spcBef>
              <a:defRPr sz="950">
                <a:solidFill>
                  <a:srgbClr val="616161"/>
                </a:solidFill>
                <a:latin typeface="Calibri"/>
              </a:defRPr>
            </a:pPr>
            <a:r>
              <a:t>Consistent transactional commissions across multiple crop seasons.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4114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09728" cy="12801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37490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12121"/>
                </a:solidFill>
                <a:latin typeface="Segoe UI"/>
              </a:defRPr>
            </a:pPr>
            <a:r>
              <a:t>LTV / CAC Ratio</a:t>
            </a:r>
          </a:p>
          <a:p>
            <a:pPr>
              <a:spcBef>
                <a:spcPts val="200"/>
              </a:spcBef>
              <a:defRPr sz="2200" b="1">
                <a:solidFill>
                  <a:srgbClr val="EF6C00"/>
                </a:solidFill>
                <a:latin typeface="Segoe UI"/>
              </a:defRPr>
            </a:pPr>
            <a:r>
              <a:t>9.0x</a:t>
            </a:r>
          </a:p>
          <a:p>
            <a:pPr>
              <a:spcBef>
                <a:spcPts val="200"/>
              </a:spcBef>
              <a:defRPr sz="950">
                <a:solidFill>
                  <a:srgbClr val="616161"/>
                </a:solidFill>
                <a:latin typeface="Calibri"/>
              </a:defRPr>
            </a:pPr>
            <a:r>
              <a:t>High profitability and marketing efficiency.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937760" y="1645920"/>
          <a:ext cx="6766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Active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1,000,000+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Gross Transaction Value (GTV)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₹50 Cr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₹300 Cr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₹1,400 Cr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Platform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₹2.5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₹15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₹70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COMPETITIVE MOAT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Strong Competitive Moat in Rural Tech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463040"/>
          <a:ext cx="9966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 / Advantage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Dinasari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Job Portals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Contractors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Rural Agri-Specific Workflows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❌ No (Urban Focus)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✅ Yes (Inefficient)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Group-Hiring Mechanics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❌ No (1-to-1)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✅ Yes (Exploitative)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QR-Based Attendance 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Machinery Rental Integration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Grievance Redressal 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Low-Literacy Voice &amp; Icon Design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THE TEAM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The Team Behind Dinasari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evanth_avatar_17836836438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1645920" cy="16459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280160" y="1828800"/>
            <a:ext cx="1645920" cy="1645920"/>
          </a:xfrm>
          <a:prstGeom prst="ellipse">
            <a:avLst/>
          </a:prstGeom>
          <a:noFill/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  <a:latin typeface="Segoe UI"/>
              </a:defRPr>
            </a:pPr>
            <a:r>
              <a:t>Revanth Lokesh</a:t>
            </a:r>
          </a:p>
          <a:p>
            <a:pPr algn="ctr">
              <a:spcBef>
                <a:spcPts val="400"/>
              </a:spcBef>
              <a:spcAft>
                <a:spcPts val="1200"/>
              </a:spcAft>
              <a:defRPr sz="1100" b="1">
                <a:solidFill>
                  <a:srgbClr val="2E7D32"/>
                </a:solidFill>
                <a:latin typeface="Segoe UI"/>
              </a:defRPr>
            </a:pPr>
            <a:r>
              <a:t>CEO &amp; CO-FOUNDER</a:t>
            </a:r>
          </a:p>
          <a:p>
            <a:pPr algn="ctr">
              <a:defRPr sz="1150">
                <a:solidFill>
                  <a:srgbClr val="616161"/>
                </a:solidFill>
                <a:latin typeface="Calibri"/>
              </a:defRPr>
            </a:pPr>
            <a:r>
              <a:t>Driving the mission to empower rural India through technology.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vishnu_avatar_17836836569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28800"/>
            <a:ext cx="1645920" cy="164592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029200" y="1828800"/>
            <a:ext cx="1645920" cy="1645920"/>
          </a:xfrm>
          <a:prstGeom prst="ellipse">
            <a:avLst/>
          </a:prstGeom>
          <a:noFill/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365760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  <a:latin typeface="Segoe UI"/>
              </a:defRPr>
            </a:pPr>
            <a:r>
              <a:t>Vishnu Sai</a:t>
            </a:r>
          </a:p>
          <a:p>
            <a:pPr algn="ctr">
              <a:spcBef>
                <a:spcPts val="400"/>
              </a:spcBef>
              <a:spcAft>
                <a:spcPts val="1200"/>
              </a:spcAft>
              <a:defRPr sz="1100" b="1">
                <a:solidFill>
                  <a:srgbClr val="1565C0"/>
                </a:solidFill>
                <a:latin typeface="Segoe UI"/>
              </a:defRPr>
            </a:pPr>
            <a:r>
              <a:t>CTO &amp; CO-FOUNDER</a:t>
            </a:r>
          </a:p>
          <a:p>
            <a:pPr algn="ctr">
              <a:defRPr sz="1150">
                <a:solidFill>
                  <a:srgbClr val="616161"/>
                </a:solidFill>
                <a:latin typeface="Calibri"/>
              </a:defRPr>
            </a:pPr>
            <a:r>
              <a:t>Responsible for platform technology, product innovation, and digital infrastructure.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630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runa_avatar_17836836689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1828800"/>
            <a:ext cx="1645920" cy="164592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8778240" y="1828800"/>
            <a:ext cx="1645920" cy="1645920"/>
          </a:xfrm>
          <a:prstGeom prst="ellipse">
            <a:avLst/>
          </a:prstGeom>
          <a:noFill/>
          <a:ln w="317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365760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  <a:latin typeface="Segoe UI"/>
              </a:defRPr>
            </a:pPr>
            <a:r>
              <a:t>Aruna Mani</a:t>
            </a:r>
          </a:p>
          <a:p>
            <a:pPr algn="ctr">
              <a:spcBef>
                <a:spcPts val="400"/>
              </a:spcBef>
              <a:spcAft>
                <a:spcPts val="1200"/>
              </a:spcAft>
              <a:defRPr sz="1100" b="1">
                <a:solidFill>
                  <a:srgbClr val="EF6C00"/>
                </a:solidFill>
                <a:latin typeface="Segoe UI"/>
              </a:defRPr>
            </a:pPr>
            <a:r>
              <a:t>MENTOR &amp; ADVISOR</a:t>
            </a:r>
          </a:p>
          <a:p>
            <a:pPr algn="ctr">
              <a:defRPr sz="1150">
                <a:solidFill>
                  <a:srgbClr val="616161"/>
                </a:solidFill>
                <a:latin typeface="Calibri"/>
              </a:defRPr>
            </a:pPr>
            <a:r>
              <a:t>Manager at SmartFX (Fintech), providing strategic guidance on business growth, operations, and execution.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RISKS &amp; MITIGATION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Key Risks &amp; Mitigation Strategy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463040"/>
          <a:ext cx="9966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Slow Digital Adoption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Drive adoption through village ambassadors, FPOs, and local awareness campaigns (Choupals).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Building Trust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Use verified profiles, QR-based attendance, ratings, and transparent, instant payments.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Scaling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Expand district by district through strategic partnerships and a scalable cloud-based platform.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Maintaining Quality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Implement a dedicated dispute resolution desk and in-field coordinators.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THE ASK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The Ask: Seed Funding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0"/>
              </a:spcAft>
              <a:defRPr sz="1800" b="1">
                <a:solidFill>
                  <a:srgbClr val="212121"/>
                </a:solidFill>
                <a:latin typeface="Segoe UI"/>
              </a:defRPr>
            </a:pPr>
            <a:r>
              <a:t>We are seeking ₹8 Crore ($1.0 Million USD) to capitalize on our growth.</a:t>
            </a:r>
          </a:p>
          <a:p>
            <a:pPr>
              <a:spcAft>
                <a:spcPts val="1200"/>
              </a:spcAft>
              <a:defRPr sz="1600" b="1">
                <a:solidFill>
                  <a:srgbClr val="2E7D32"/>
                </a:solidFill>
                <a:latin typeface="Segoe UI"/>
              </a:defRPr>
            </a:pPr>
            <a:r>
              <a:t>3-Year Revenue Snapshot:</a:t>
            </a:r>
          </a:p>
          <a:p>
            <a:pPr>
              <a:spcAft>
                <a:spcPts val="800"/>
              </a:spcAft>
              <a:defRPr sz="1300" b="1">
                <a:solidFill>
                  <a:srgbClr val="212121"/>
                </a:solidFill>
                <a:latin typeface="Segoe UI"/>
              </a:defRPr>
            </a:pPr>
            <a:r>
              <a:t>• Year 1: </a:t>
            </a:r>
            <a:r>
              <a:rPr sz="1300" b="1">
                <a:solidFill>
                  <a:srgbClr val="2E7D32"/>
                </a:solidFill>
                <a:latin typeface="Calibri"/>
              </a:rPr>
              <a:t>₹2.5 Cr</a:t>
            </a:r>
          </a:p>
          <a:p>
            <a:pPr>
              <a:spcAft>
                <a:spcPts val="800"/>
              </a:spcAft>
              <a:defRPr sz="1300" b="1">
                <a:solidFill>
                  <a:srgbClr val="212121"/>
                </a:solidFill>
                <a:latin typeface="Segoe UI"/>
              </a:defRPr>
            </a:pPr>
            <a:r>
              <a:t>• Year 2: </a:t>
            </a:r>
            <a:r>
              <a:rPr sz="1300" b="1">
                <a:solidFill>
                  <a:srgbClr val="2E7D32"/>
                </a:solidFill>
                <a:latin typeface="Calibri"/>
              </a:rPr>
              <a:t>₹15 Cr</a:t>
            </a:r>
          </a:p>
          <a:p>
            <a:pPr>
              <a:spcAft>
                <a:spcPts val="800"/>
              </a:spcAft>
              <a:defRPr sz="1300" b="1">
                <a:solidFill>
                  <a:srgbClr val="212121"/>
                </a:solidFill>
                <a:latin typeface="Segoe UI"/>
              </a:defRPr>
            </a:pPr>
            <a:r>
              <a:t>• Year 3: </a:t>
            </a:r>
            <a:r>
              <a:rPr sz="1300" b="1">
                <a:solidFill>
                  <a:srgbClr val="2E7D32"/>
                </a:solidFill>
                <a:latin typeface="Calibri"/>
              </a:rPr>
              <a:t>₹70 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79089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0" y="1463040"/>
            <a:ext cx="13716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42513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E7D32"/>
                </a:solidFill>
                <a:latin typeface="Segoe UI"/>
              </a:defRPr>
            </a:pPr>
            <a:r>
              <a:t>40% Product &amp; Engineering</a:t>
            </a:r>
          </a:p>
          <a:p>
            <a:pPr>
              <a:spcBef>
                <a:spcPts val="200"/>
              </a:spcBef>
              <a:defRPr sz="1000">
                <a:solidFill>
                  <a:srgbClr val="616161"/>
                </a:solidFill>
                <a:latin typeface="Calibri"/>
              </a:defRPr>
            </a:pPr>
            <a:r>
              <a:t>Building scalable backend APIs, chatbot voice capabilities, and offline sync.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624328"/>
            <a:ext cx="579089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0" y="2624328"/>
            <a:ext cx="137160" cy="10515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715768"/>
            <a:ext cx="542513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565C0"/>
                </a:solidFill>
                <a:latin typeface="Segoe UI"/>
              </a:defRPr>
            </a:pPr>
            <a:r>
              <a:t>35% GTM &amp; Customer Acquisition</a:t>
            </a:r>
          </a:p>
          <a:p>
            <a:pPr>
              <a:spcBef>
                <a:spcPts val="200"/>
              </a:spcBef>
              <a:defRPr sz="1000">
                <a:solidFill>
                  <a:srgbClr val="616161"/>
                </a:solidFill>
                <a:latin typeface="Calibri"/>
              </a:defRPr>
            </a:pPr>
            <a:r>
              <a:t>Marketing roadshows, village panchayat setups, and FPO incentive schemes.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785616"/>
            <a:ext cx="579089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0" y="3785616"/>
            <a:ext cx="137160" cy="10515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3877056"/>
            <a:ext cx="542513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F6C00"/>
                </a:solidFill>
                <a:latin typeface="Segoe UI"/>
              </a:defRPr>
            </a:pPr>
            <a:r>
              <a:t>15% Operations &amp; Support</a:t>
            </a:r>
          </a:p>
          <a:p>
            <a:pPr>
              <a:spcBef>
                <a:spcPts val="200"/>
              </a:spcBef>
              <a:defRPr sz="1000">
                <a:solidFill>
                  <a:srgbClr val="616161"/>
                </a:solidFill>
                <a:latin typeface="Calibri"/>
              </a:defRPr>
            </a:pPr>
            <a:r>
              <a:t>Grievance Desk expansion, on-field coordinators, and helpline operators.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946904"/>
            <a:ext cx="579089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4946904"/>
            <a:ext cx="137160" cy="10515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5038344"/>
            <a:ext cx="542513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2121"/>
                </a:solidFill>
                <a:latin typeface="Segoe UI"/>
              </a:defRPr>
            </a:pPr>
            <a:r>
              <a:t>10% General &amp; Administrative</a:t>
            </a:r>
          </a:p>
          <a:p>
            <a:pPr>
              <a:spcBef>
                <a:spcPts val="200"/>
              </a:spcBef>
              <a:defRPr sz="1000">
                <a:solidFill>
                  <a:srgbClr val="616161"/>
                </a:solidFill>
                <a:latin typeface="Calibri"/>
              </a:defRPr>
            </a:pPr>
            <a:r>
              <a:t>Corporate legal compliance, office space, and reserve contingency.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Segoe UI"/>
              </a:defRPr>
            </a:pPr>
            <a:r>
              <a:t>IMPACT &amp; CLOSING</a:t>
            </a:r>
          </a:p>
          <a:p>
            <a:pPr>
              <a:spcBef>
                <a:spcPts val="200"/>
              </a:spcBef>
              <a:defRPr sz="2200" b="1">
                <a:solidFill>
                  <a:srgbClr val="212121"/>
                </a:solidFill>
                <a:latin typeface="Segoe UI"/>
              </a:defRPr>
            </a:pPr>
            <a:r>
              <a:t>Our Impact: Aligned with National Priorities</a:t>
            </a:r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Calibri"/>
              </a:defRPr>
            </a:pPr>
            <a:r>
              <a:t>Edhigo Pani Technologies Private Limited  |  funding@dinasari.in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E7D32"/>
                </a:solidFill>
                <a:latin typeface="Segoe UI"/>
              </a:defRPr>
            </a:pPr>
            <a:r>
              <a:t>SDG &amp; National Alignment</a:t>
            </a:r>
          </a:p>
          <a:p>
            <a:pPr>
              <a:spcAft>
                <a:spcPts val="800"/>
              </a:spcAft>
              <a:defRPr sz="1200" b="1">
                <a:solidFill>
                  <a:srgbClr val="2E7D32"/>
                </a:solidFill>
                <a:latin typeface="Segoe UI"/>
              </a:defRPr>
            </a:pPr>
            <a:r>
              <a:t>• Create Jobs: </a:t>
            </a:r>
            <a:r>
              <a:rPr sz="1150" b="0">
                <a:solidFill>
                  <a:srgbClr val="616161"/>
                </a:solidFill>
                <a:latin typeface="Calibri"/>
              </a:rPr>
              <a:t>Sustainable employment for millions of rural workers (SDG 1 &amp; 8).</a:t>
            </a:r>
          </a:p>
          <a:p>
            <a:pPr>
              <a:spcAft>
                <a:spcPts val="800"/>
              </a:spcAft>
              <a:defRPr sz="1200" b="1">
                <a:solidFill>
                  <a:srgbClr val="2E7D32"/>
                </a:solidFill>
                <a:latin typeface="Segoe UI"/>
              </a:defRPr>
            </a:pPr>
            <a:r>
              <a:t>• Boost Agriculture: </a:t>
            </a:r>
            <a:r>
              <a:rPr sz="1150" b="0">
                <a:solidFill>
                  <a:srgbClr val="616161"/>
                </a:solidFill>
                <a:latin typeface="Calibri"/>
              </a:rPr>
              <a:t>Improve farmer productivity through faster workforce and machinery access (SDG 2 &amp; 9).</a:t>
            </a:r>
          </a:p>
          <a:p>
            <a:pPr>
              <a:spcAft>
                <a:spcPts val="800"/>
              </a:spcAft>
              <a:defRPr sz="1200" b="1">
                <a:solidFill>
                  <a:srgbClr val="2E7D32"/>
                </a:solidFill>
                <a:latin typeface="Segoe UI"/>
              </a:defRPr>
            </a:pPr>
            <a:r>
              <a:t>• Promote Financial Inclusion: </a:t>
            </a:r>
            <a:r>
              <a:rPr sz="1150" b="0">
                <a:solidFill>
                  <a:srgbClr val="616161"/>
                </a:solidFill>
                <a:latin typeface="Calibri"/>
              </a:rPr>
              <a:t>Enable secure digital payments and credit access (SDG 8 &amp; 10).</a:t>
            </a:r>
          </a:p>
          <a:p>
            <a:pPr>
              <a:spcAft>
                <a:spcPts val="800"/>
              </a:spcAft>
              <a:defRPr sz="1200" b="1">
                <a:solidFill>
                  <a:srgbClr val="2E7D32"/>
                </a:solidFill>
                <a:latin typeface="Segoe UI"/>
              </a:defRPr>
            </a:pPr>
            <a:r>
              <a:t>• Build Transparency: </a:t>
            </a:r>
            <a:r>
              <a:rPr sz="1150" b="0">
                <a:solidFill>
                  <a:srgbClr val="616161"/>
                </a:solidFill>
                <a:latin typeface="Calibri"/>
              </a:rPr>
              <a:t>Increase trust through verified profiles and secure transactions.</a:t>
            </a:r>
          </a:p>
          <a:p>
            <a:pPr>
              <a:spcBef>
                <a:spcPts val="1200"/>
              </a:spcBef>
              <a:defRPr sz="1150" b="1">
                <a:solidFill>
                  <a:srgbClr val="212121"/>
                </a:solidFill>
                <a:latin typeface="Segoe UI"/>
              </a:defRPr>
            </a:pPr>
            <a:r>
              <a:t>Vande Bharatam Alignment: Supports Digital India, financial inclusion, employment generation, and rural development.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58896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58630" y="3515190"/>
            <a:ext cx="49377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600"/>
              </a:spcAft>
              <a:defRPr sz="1800" b="1">
                <a:solidFill>
                  <a:srgbClr val="212121"/>
                </a:solidFill>
                <a:latin typeface="Segoe UI"/>
              </a:defRPr>
            </a:pPr>
            <a:r>
              <a:rPr dirty="0"/>
              <a:t>Join us in building the future of rural India.</a:t>
            </a:r>
          </a:p>
          <a:p>
            <a:pPr algn="ctr">
              <a:defRPr sz="1100" b="1">
                <a:solidFill>
                  <a:srgbClr val="616161"/>
                </a:solidFill>
                <a:latin typeface="Segoe UI"/>
              </a:defRPr>
            </a:pPr>
            <a:r>
              <a:rPr dirty="0"/>
              <a:t>Contact:</a:t>
            </a:r>
          </a:p>
          <a:p>
            <a:pPr algn="ctr">
              <a:spcBef>
                <a:spcPts val="400"/>
              </a:spcBef>
              <a:spcAft>
                <a:spcPts val="800"/>
              </a:spcAft>
              <a:defRPr sz="1600" b="1">
                <a:solidFill>
                  <a:srgbClr val="2E7D32"/>
                </a:solidFill>
                <a:latin typeface="Segoe UI"/>
              </a:defRPr>
            </a:pPr>
            <a:r>
              <a:rPr dirty="0"/>
              <a:t>funding@dinasari.in</a:t>
            </a:r>
          </a:p>
          <a:p>
            <a:pPr algn="ctr">
              <a:defRPr sz="1200">
                <a:solidFill>
                  <a:srgbClr val="212121"/>
                </a:solidFill>
                <a:latin typeface="Segoe UI"/>
              </a:defRPr>
            </a:pPr>
            <a:r>
              <a:rPr dirty="0" err="1"/>
              <a:t>Edhigo</a:t>
            </a:r>
            <a:r>
              <a:rPr dirty="0"/>
              <a:t> Pani Technologies Private 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1881</Words>
  <Application>Microsoft Office PowerPoint</Application>
  <PresentationFormat>Widescreen</PresentationFormat>
  <Paragraphs>234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revanth poleboina</cp:lastModifiedBy>
  <cp:revision>2</cp:revision>
  <dcterms:created xsi:type="dcterms:W3CDTF">2013-01-27T09:14:16Z</dcterms:created>
  <dcterms:modified xsi:type="dcterms:W3CDTF">2026-07-10T11:55:57Z</dcterms:modified>
  <cp:category/>
</cp:coreProperties>
</file>